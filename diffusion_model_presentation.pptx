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948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3FA4AF-C2E2-4ABF-BBEA-05DD5DCFDB0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6E657E1-D843-4D35-8D77-99833E2CA3EE}">
      <dgm:prSet/>
      <dgm:spPr/>
      <dgm:t>
        <a:bodyPr/>
        <a:lstStyle/>
        <a:p>
          <a:r>
            <a:rPr lang="en-US" dirty="0"/>
            <a:t>Consists of 70,000 grayscale images of handwritten digits (0–9)</a:t>
          </a:r>
        </a:p>
      </dgm:t>
    </dgm:pt>
    <dgm:pt modelId="{7952A2CF-F229-4556-A6A8-AEAB4521724B}" type="parTrans" cxnId="{2F1658E7-64E4-4C07-AE3B-424005DE225B}">
      <dgm:prSet/>
      <dgm:spPr/>
      <dgm:t>
        <a:bodyPr/>
        <a:lstStyle/>
        <a:p>
          <a:endParaRPr lang="en-US"/>
        </a:p>
      </dgm:t>
    </dgm:pt>
    <dgm:pt modelId="{189529E8-07EE-4A28-AC58-0463249BB852}" type="sibTrans" cxnId="{2F1658E7-64E4-4C07-AE3B-424005DE225B}">
      <dgm:prSet/>
      <dgm:spPr/>
      <dgm:t>
        <a:bodyPr/>
        <a:lstStyle/>
        <a:p>
          <a:endParaRPr lang="en-US"/>
        </a:p>
      </dgm:t>
    </dgm:pt>
    <dgm:pt modelId="{FD29D48D-B678-4169-BB50-5ED2D9483CB5}">
      <dgm:prSet/>
      <dgm:spPr/>
      <dgm:t>
        <a:bodyPr/>
        <a:lstStyle/>
        <a:p>
          <a:r>
            <a:rPr lang="en-US"/>
            <a:t>Image size: 28x28 pixels</a:t>
          </a:r>
        </a:p>
      </dgm:t>
    </dgm:pt>
    <dgm:pt modelId="{5C98C514-F6B6-4012-B7AF-D1D3EC5320E3}" type="parTrans" cxnId="{A799FD61-7BA9-4043-B1C1-3306849F6305}">
      <dgm:prSet/>
      <dgm:spPr/>
      <dgm:t>
        <a:bodyPr/>
        <a:lstStyle/>
        <a:p>
          <a:endParaRPr lang="en-US"/>
        </a:p>
      </dgm:t>
    </dgm:pt>
    <dgm:pt modelId="{22651A8C-E60B-4B59-9122-3790A444DBA5}" type="sibTrans" cxnId="{A799FD61-7BA9-4043-B1C1-3306849F6305}">
      <dgm:prSet/>
      <dgm:spPr/>
      <dgm:t>
        <a:bodyPr/>
        <a:lstStyle/>
        <a:p>
          <a:endParaRPr lang="en-US"/>
        </a:p>
      </dgm:t>
    </dgm:pt>
    <dgm:pt modelId="{C7E2704A-1DA7-46C9-946E-BDEE17DBD3F5}">
      <dgm:prSet/>
      <dgm:spPr/>
      <dgm:t>
        <a:bodyPr/>
        <a:lstStyle/>
        <a:p>
          <a:r>
            <a:rPr lang="en-US"/>
            <a:t>60,000 training samples and 10,000 test samples</a:t>
          </a:r>
        </a:p>
      </dgm:t>
    </dgm:pt>
    <dgm:pt modelId="{3FE4A8DE-947B-417F-918A-E31C1E2AB1F6}" type="parTrans" cxnId="{273CF7EC-8A83-45AC-83FD-DE35394FCAE9}">
      <dgm:prSet/>
      <dgm:spPr/>
      <dgm:t>
        <a:bodyPr/>
        <a:lstStyle/>
        <a:p>
          <a:endParaRPr lang="en-US"/>
        </a:p>
      </dgm:t>
    </dgm:pt>
    <dgm:pt modelId="{7A382AD0-253B-4B97-A12C-302A5707C6D8}" type="sibTrans" cxnId="{273CF7EC-8A83-45AC-83FD-DE35394FCAE9}">
      <dgm:prSet/>
      <dgm:spPr/>
      <dgm:t>
        <a:bodyPr/>
        <a:lstStyle/>
        <a:p>
          <a:endParaRPr lang="en-US"/>
        </a:p>
      </dgm:t>
    </dgm:pt>
    <dgm:pt modelId="{2D6A6D04-2E08-4C2C-8CFC-1B900BA1097E}">
      <dgm:prSet/>
      <dgm:spPr/>
      <dgm:t>
        <a:bodyPr/>
        <a:lstStyle/>
        <a:p>
          <a:r>
            <a:rPr lang="en-US"/>
            <a:t>Normalized to [-1, 1] for stable training</a:t>
          </a:r>
        </a:p>
      </dgm:t>
    </dgm:pt>
    <dgm:pt modelId="{E9A16A40-BC35-43FD-83D3-8483C5C3BA9B}" type="parTrans" cxnId="{A0F3B95E-1EE8-4CF3-9FCE-4D81BF5AAA54}">
      <dgm:prSet/>
      <dgm:spPr/>
      <dgm:t>
        <a:bodyPr/>
        <a:lstStyle/>
        <a:p>
          <a:endParaRPr lang="en-US"/>
        </a:p>
      </dgm:t>
    </dgm:pt>
    <dgm:pt modelId="{90A0934F-2919-4D37-AE63-ED1485ADD130}" type="sibTrans" cxnId="{A0F3B95E-1EE8-4CF3-9FCE-4D81BF5AAA54}">
      <dgm:prSet/>
      <dgm:spPr/>
      <dgm:t>
        <a:bodyPr/>
        <a:lstStyle/>
        <a:p>
          <a:endParaRPr lang="en-US"/>
        </a:p>
      </dgm:t>
    </dgm:pt>
    <dgm:pt modelId="{06AE4F11-4CC9-4E37-82CC-1ED5DD45B0CE}">
      <dgm:prSet/>
      <dgm:spPr/>
      <dgm:t>
        <a:bodyPr/>
        <a:lstStyle/>
        <a:p>
          <a:r>
            <a:rPr lang="en-US"/>
            <a:t>Used for both unconditional and class-conditional generation</a:t>
          </a:r>
        </a:p>
      </dgm:t>
    </dgm:pt>
    <dgm:pt modelId="{8370DDF7-FB51-46C1-955F-1798CA13E52D}" type="parTrans" cxnId="{5364F877-732B-441D-A1F3-7608988ACC08}">
      <dgm:prSet/>
      <dgm:spPr/>
      <dgm:t>
        <a:bodyPr/>
        <a:lstStyle/>
        <a:p>
          <a:endParaRPr lang="en-US"/>
        </a:p>
      </dgm:t>
    </dgm:pt>
    <dgm:pt modelId="{0B039B51-22A5-4385-A7E9-69763E38E2BE}" type="sibTrans" cxnId="{5364F877-732B-441D-A1F3-7608988ACC08}">
      <dgm:prSet/>
      <dgm:spPr/>
      <dgm:t>
        <a:bodyPr/>
        <a:lstStyle/>
        <a:p>
          <a:endParaRPr lang="en-US"/>
        </a:p>
      </dgm:t>
    </dgm:pt>
    <dgm:pt modelId="{B7DE4506-A3D8-4055-A5CC-3A933CD96501}" type="pres">
      <dgm:prSet presAssocID="{FA3FA4AF-C2E2-4ABF-BBEA-05DD5DCFDB04}" presName="diagram" presStyleCnt="0">
        <dgm:presLayoutVars>
          <dgm:dir/>
          <dgm:resizeHandles val="exact"/>
        </dgm:presLayoutVars>
      </dgm:prSet>
      <dgm:spPr/>
    </dgm:pt>
    <dgm:pt modelId="{6E99FE29-78F7-4BF2-AD33-D4AA847179EA}" type="pres">
      <dgm:prSet presAssocID="{26E657E1-D843-4D35-8D77-99833E2CA3EE}" presName="node" presStyleLbl="node1" presStyleIdx="0" presStyleCnt="5">
        <dgm:presLayoutVars>
          <dgm:bulletEnabled val="1"/>
        </dgm:presLayoutVars>
      </dgm:prSet>
      <dgm:spPr/>
    </dgm:pt>
    <dgm:pt modelId="{8E71F925-546C-4610-84F7-5A332828858C}" type="pres">
      <dgm:prSet presAssocID="{189529E8-07EE-4A28-AC58-0463249BB852}" presName="sibTrans" presStyleCnt="0"/>
      <dgm:spPr/>
    </dgm:pt>
    <dgm:pt modelId="{C4F09A47-C38E-416B-97DE-3549D3C99D8B}" type="pres">
      <dgm:prSet presAssocID="{FD29D48D-B678-4169-BB50-5ED2D9483CB5}" presName="node" presStyleLbl="node1" presStyleIdx="1" presStyleCnt="5">
        <dgm:presLayoutVars>
          <dgm:bulletEnabled val="1"/>
        </dgm:presLayoutVars>
      </dgm:prSet>
      <dgm:spPr/>
    </dgm:pt>
    <dgm:pt modelId="{8645FD6D-5C37-45F0-9659-F38DECAF609A}" type="pres">
      <dgm:prSet presAssocID="{22651A8C-E60B-4B59-9122-3790A444DBA5}" presName="sibTrans" presStyleCnt="0"/>
      <dgm:spPr/>
    </dgm:pt>
    <dgm:pt modelId="{4CF6DABF-B996-4398-A24A-3D63F39AC743}" type="pres">
      <dgm:prSet presAssocID="{C7E2704A-1DA7-46C9-946E-BDEE17DBD3F5}" presName="node" presStyleLbl="node1" presStyleIdx="2" presStyleCnt="5">
        <dgm:presLayoutVars>
          <dgm:bulletEnabled val="1"/>
        </dgm:presLayoutVars>
      </dgm:prSet>
      <dgm:spPr/>
    </dgm:pt>
    <dgm:pt modelId="{1F52849D-873F-4607-B555-3A3CDE55C3A6}" type="pres">
      <dgm:prSet presAssocID="{7A382AD0-253B-4B97-A12C-302A5707C6D8}" presName="sibTrans" presStyleCnt="0"/>
      <dgm:spPr/>
    </dgm:pt>
    <dgm:pt modelId="{C1C3ACD3-3525-4194-B69F-B8A6F287918A}" type="pres">
      <dgm:prSet presAssocID="{2D6A6D04-2E08-4C2C-8CFC-1B900BA1097E}" presName="node" presStyleLbl="node1" presStyleIdx="3" presStyleCnt="5">
        <dgm:presLayoutVars>
          <dgm:bulletEnabled val="1"/>
        </dgm:presLayoutVars>
      </dgm:prSet>
      <dgm:spPr/>
    </dgm:pt>
    <dgm:pt modelId="{0F1ABD57-5C4C-4EF5-BF9F-5641E9EBB364}" type="pres">
      <dgm:prSet presAssocID="{90A0934F-2919-4D37-AE63-ED1485ADD130}" presName="sibTrans" presStyleCnt="0"/>
      <dgm:spPr/>
    </dgm:pt>
    <dgm:pt modelId="{97D30032-09D3-4854-AF86-018EF17079BF}" type="pres">
      <dgm:prSet presAssocID="{06AE4F11-4CC9-4E37-82CC-1ED5DD45B0CE}" presName="node" presStyleLbl="node1" presStyleIdx="4" presStyleCnt="5">
        <dgm:presLayoutVars>
          <dgm:bulletEnabled val="1"/>
        </dgm:presLayoutVars>
      </dgm:prSet>
      <dgm:spPr/>
    </dgm:pt>
  </dgm:ptLst>
  <dgm:cxnLst>
    <dgm:cxn modelId="{874E4023-65A9-4A58-89DF-82BB549ECBAD}" type="presOf" srcId="{2D6A6D04-2E08-4C2C-8CFC-1B900BA1097E}" destId="{C1C3ACD3-3525-4194-B69F-B8A6F287918A}" srcOrd="0" destOrd="0" presId="urn:microsoft.com/office/officeart/2005/8/layout/default"/>
    <dgm:cxn modelId="{A0F3B95E-1EE8-4CF3-9FCE-4D81BF5AAA54}" srcId="{FA3FA4AF-C2E2-4ABF-BBEA-05DD5DCFDB04}" destId="{2D6A6D04-2E08-4C2C-8CFC-1B900BA1097E}" srcOrd="3" destOrd="0" parTransId="{E9A16A40-BC35-43FD-83D3-8483C5C3BA9B}" sibTransId="{90A0934F-2919-4D37-AE63-ED1485ADD130}"/>
    <dgm:cxn modelId="{A799FD61-7BA9-4043-B1C1-3306849F6305}" srcId="{FA3FA4AF-C2E2-4ABF-BBEA-05DD5DCFDB04}" destId="{FD29D48D-B678-4169-BB50-5ED2D9483CB5}" srcOrd="1" destOrd="0" parTransId="{5C98C514-F6B6-4012-B7AF-D1D3EC5320E3}" sibTransId="{22651A8C-E60B-4B59-9122-3790A444DBA5}"/>
    <dgm:cxn modelId="{ACF40F6E-F098-4DAA-B9D0-67015367C718}" type="presOf" srcId="{FA3FA4AF-C2E2-4ABF-BBEA-05DD5DCFDB04}" destId="{B7DE4506-A3D8-4055-A5CC-3A933CD96501}" srcOrd="0" destOrd="0" presId="urn:microsoft.com/office/officeart/2005/8/layout/default"/>
    <dgm:cxn modelId="{5364F877-732B-441D-A1F3-7608988ACC08}" srcId="{FA3FA4AF-C2E2-4ABF-BBEA-05DD5DCFDB04}" destId="{06AE4F11-4CC9-4E37-82CC-1ED5DD45B0CE}" srcOrd="4" destOrd="0" parTransId="{8370DDF7-FB51-46C1-955F-1798CA13E52D}" sibTransId="{0B039B51-22A5-4385-A7E9-69763E38E2BE}"/>
    <dgm:cxn modelId="{70936A80-8B37-4AAE-BFE7-DD1B5EED378E}" type="presOf" srcId="{26E657E1-D843-4D35-8D77-99833E2CA3EE}" destId="{6E99FE29-78F7-4BF2-AD33-D4AA847179EA}" srcOrd="0" destOrd="0" presId="urn:microsoft.com/office/officeart/2005/8/layout/default"/>
    <dgm:cxn modelId="{C1830482-80C9-4A0A-A7FC-F6D8833E8912}" type="presOf" srcId="{06AE4F11-4CC9-4E37-82CC-1ED5DD45B0CE}" destId="{97D30032-09D3-4854-AF86-018EF17079BF}" srcOrd="0" destOrd="0" presId="urn:microsoft.com/office/officeart/2005/8/layout/default"/>
    <dgm:cxn modelId="{2F1658E7-64E4-4C07-AE3B-424005DE225B}" srcId="{FA3FA4AF-C2E2-4ABF-BBEA-05DD5DCFDB04}" destId="{26E657E1-D843-4D35-8D77-99833E2CA3EE}" srcOrd="0" destOrd="0" parTransId="{7952A2CF-F229-4556-A6A8-AEAB4521724B}" sibTransId="{189529E8-07EE-4A28-AC58-0463249BB852}"/>
    <dgm:cxn modelId="{273CF7EC-8A83-45AC-83FD-DE35394FCAE9}" srcId="{FA3FA4AF-C2E2-4ABF-BBEA-05DD5DCFDB04}" destId="{C7E2704A-1DA7-46C9-946E-BDEE17DBD3F5}" srcOrd="2" destOrd="0" parTransId="{3FE4A8DE-947B-417F-918A-E31C1E2AB1F6}" sibTransId="{7A382AD0-253B-4B97-A12C-302A5707C6D8}"/>
    <dgm:cxn modelId="{FD14B8F4-425B-4B15-B920-FC6D3E4C0694}" type="presOf" srcId="{FD29D48D-B678-4169-BB50-5ED2D9483CB5}" destId="{C4F09A47-C38E-416B-97DE-3549D3C99D8B}" srcOrd="0" destOrd="0" presId="urn:microsoft.com/office/officeart/2005/8/layout/default"/>
    <dgm:cxn modelId="{0D592BF8-4E3A-44FF-B080-75BC85B01C7C}" type="presOf" srcId="{C7E2704A-1DA7-46C9-946E-BDEE17DBD3F5}" destId="{4CF6DABF-B996-4398-A24A-3D63F39AC743}" srcOrd="0" destOrd="0" presId="urn:microsoft.com/office/officeart/2005/8/layout/default"/>
    <dgm:cxn modelId="{CA6A442A-EE1B-4BEC-BB81-05AEA3E8EED1}" type="presParOf" srcId="{B7DE4506-A3D8-4055-A5CC-3A933CD96501}" destId="{6E99FE29-78F7-4BF2-AD33-D4AA847179EA}" srcOrd="0" destOrd="0" presId="urn:microsoft.com/office/officeart/2005/8/layout/default"/>
    <dgm:cxn modelId="{FF78366B-F01D-443C-856F-F459ACD13486}" type="presParOf" srcId="{B7DE4506-A3D8-4055-A5CC-3A933CD96501}" destId="{8E71F925-546C-4610-84F7-5A332828858C}" srcOrd="1" destOrd="0" presId="urn:microsoft.com/office/officeart/2005/8/layout/default"/>
    <dgm:cxn modelId="{7371A40B-A634-4A4B-AE81-EC239A3CA647}" type="presParOf" srcId="{B7DE4506-A3D8-4055-A5CC-3A933CD96501}" destId="{C4F09A47-C38E-416B-97DE-3549D3C99D8B}" srcOrd="2" destOrd="0" presId="urn:microsoft.com/office/officeart/2005/8/layout/default"/>
    <dgm:cxn modelId="{41AFCA4C-00C8-46DE-A39F-32BFF480BFD7}" type="presParOf" srcId="{B7DE4506-A3D8-4055-A5CC-3A933CD96501}" destId="{8645FD6D-5C37-45F0-9659-F38DECAF609A}" srcOrd="3" destOrd="0" presId="urn:microsoft.com/office/officeart/2005/8/layout/default"/>
    <dgm:cxn modelId="{C78C9E66-5417-4073-8400-B3E7300088F9}" type="presParOf" srcId="{B7DE4506-A3D8-4055-A5CC-3A933CD96501}" destId="{4CF6DABF-B996-4398-A24A-3D63F39AC743}" srcOrd="4" destOrd="0" presId="urn:microsoft.com/office/officeart/2005/8/layout/default"/>
    <dgm:cxn modelId="{1FE8105C-CF4E-4DB0-89E5-1341700E3C2E}" type="presParOf" srcId="{B7DE4506-A3D8-4055-A5CC-3A933CD96501}" destId="{1F52849D-873F-4607-B555-3A3CDE55C3A6}" srcOrd="5" destOrd="0" presId="urn:microsoft.com/office/officeart/2005/8/layout/default"/>
    <dgm:cxn modelId="{42F72A11-8D08-4F3C-9A4F-073D14CD86D3}" type="presParOf" srcId="{B7DE4506-A3D8-4055-A5CC-3A933CD96501}" destId="{C1C3ACD3-3525-4194-B69F-B8A6F287918A}" srcOrd="6" destOrd="0" presId="urn:microsoft.com/office/officeart/2005/8/layout/default"/>
    <dgm:cxn modelId="{65DF1AE3-66AF-410F-BBA7-72DD7F9957FF}" type="presParOf" srcId="{B7DE4506-A3D8-4055-A5CC-3A933CD96501}" destId="{0F1ABD57-5C4C-4EF5-BF9F-5641E9EBB364}" srcOrd="7" destOrd="0" presId="urn:microsoft.com/office/officeart/2005/8/layout/default"/>
    <dgm:cxn modelId="{AF0F0369-357A-438D-B00D-050AEED8174A}" type="presParOf" srcId="{B7DE4506-A3D8-4055-A5CC-3A933CD96501}" destId="{97D30032-09D3-4854-AF86-018EF17079B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89CB3F-CB15-4E89-BBFF-29429F05864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CB0837F-EE8D-439E-8270-67E11EB8AE5B}">
      <dgm:prSet/>
      <dgm:spPr/>
      <dgm:t>
        <a:bodyPr/>
        <a:lstStyle/>
        <a:p>
          <a:r>
            <a:rPr lang="en-US"/>
            <a:t>Implements forward process (adding noise) and parameters for reverse denoising</a:t>
          </a:r>
        </a:p>
      </dgm:t>
    </dgm:pt>
    <dgm:pt modelId="{F8FDAA60-F381-49F6-956E-9369386A345C}" type="parTrans" cxnId="{8313714A-56CF-47E3-9479-EBB4AD3B6BF2}">
      <dgm:prSet/>
      <dgm:spPr/>
      <dgm:t>
        <a:bodyPr/>
        <a:lstStyle/>
        <a:p>
          <a:endParaRPr lang="en-US"/>
        </a:p>
      </dgm:t>
    </dgm:pt>
    <dgm:pt modelId="{82D4B375-A7E4-492D-AB7C-EB99A405B555}" type="sibTrans" cxnId="{8313714A-56CF-47E3-9479-EBB4AD3B6BF2}">
      <dgm:prSet/>
      <dgm:spPr/>
      <dgm:t>
        <a:bodyPr/>
        <a:lstStyle/>
        <a:p>
          <a:endParaRPr lang="en-US"/>
        </a:p>
      </dgm:t>
    </dgm:pt>
    <dgm:pt modelId="{D8C163D5-299E-4AAA-AB1C-7E7F7E42AF63}">
      <dgm:prSet/>
      <dgm:spPr/>
      <dgm:t>
        <a:bodyPr/>
        <a:lstStyle/>
        <a:p>
          <a:r>
            <a:rPr lang="en-US"/>
            <a:t>Linear beta schedule from β_start=1e-4 to β_end=0.02</a:t>
          </a:r>
        </a:p>
      </dgm:t>
    </dgm:pt>
    <dgm:pt modelId="{EE2ED90A-9802-4C8F-9D68-02784EFB7D88}" type="parTrans" cxnId="{01D5D5FF-757A-4F0B-B706-3DAAA503C95B}">
      <dgm:prSet/>
      <dgm:spPr/>
      <dgm:t>
        <a:bodyPr/>
        <a:lstStyle/>
        <a:p>
          <a:endParaRPr lang="en-US"/>
        </a:p>
      </dgm:t>
    </dgm:pt>
    <dgm:pt modelId="{DA812F9F-7F93-4385-8FA2-7220F4AB1819}" type="sibTrans" cxnId="{01D5D5FF-757A-4F0B-B706-3DAAA503C95B}">
      <dgm:prSet/>
      <dgm:spPr/>
      <dgm:t>
        <a:bodyPr/>
        <a:lstStyle/>
        <a:p>
          <a:endParaRPr lang="en-US"/>
        </a:p>
      </dgm:t>
    </dgm:pt>
    <dgm:pt modelId="{6DD625F9-7CEB-4E67-87C7-BD9F0A8E9073}">
      <dgm:prSet/>
      <dgm:spPr/>
      <dgm:t>
        <a:bodyPr/>
        <a:lstStyle/>
        <a:p>
          <a:r>
            <a:rPr lang="en-US"/>
            <a:t>Stores α_t, ᾱ_t (cumulative product), and related constants</a:t>
          </a:r>
        </a:p>
      </dgm:t>
    </dgm:pt>
    <dgm:pt modelId="{FC861D0E-4526-412E-B8C2-0FE7968A52C4}" type="parTrans" cxnId="{05ED5E76-085A-4264-8B75-824E45F4765D}">
      <dgm:prSet/>
      <dgm:spPr/>
      <dgm:t>
        <a:bodyPr/>
        <a:lstStyle/>
        <a:p>
          <a:endParaRPr lang="en-US"/>
        </a:p>
      </dgm:t>
    </dgm:pt>
    <dgm:pt modelId="{166E979F-DFF0-4380-82F5-B58F4F1702A3}" type="sibTrans" cxnId="{05ED5E76-085A-4264-8B75-824E45F4765D}">
      <dgm:prSet/>
      <dgm:spPr/>
      <dgm:t>
        <a:bodyPr/>
        <a:lstStyle/>
        <a:p>
          <a:endParaRPr lang="en-US"/>
        </a:p>
      </dgm:t>
    </dgm:pt>
    <dgm:pt modelId="{8C21647C-D2A8-48C0-9AB6-52B8B3CE8A8F}">
      <dgm:prSet/>
      <dgm:spPr/>
      <dgm:t>
        <a:bodyPr/>
        <a:lstStyle/>
        <a:p>
          <a:r>
            <a:rPr lang="en-US"/>
            <a:t>q_sample(x₀, t): Adds noise to original image x₀ at timestep t</a:t>
          </a:r>
        </a:p>
      </dgm:t>
    </dgm:pt>
    <dgm:pt modelId="{A98760E5-DD25-4045-A448-8B95EEA231A0}" type="parTrans" cxnId="{00463311-F645-421C-9DF0-D979511700DA}">
      <dgm:prSet/>
      <dgm:spPr/>
      <dgm:t>
        <a:bodyPr/>
        <a:lstStyle/>
        <a:p>
          <a:endParaRPr lang="en-US"/>
        </a:p>
      </dgm:t>
    </dgm:pt>
    <dgm:pt modelId="{021BD1B8-F600-427B-86F8-D56837EE83B5}" type="sibTrans" cxnId="{00463311-F645-421C-9DF0-D979511700DA}">
      <dgm:prSet/>
      <dgm:spPr/>
      <dgm:t>
        <a:bodyPr/>
        <a:lstStyle/>
        <a:p>
          <a:endParaRPr lang="en-US"/>
        </a:p>
      </dgm:t>
    </dgm:pt>
    <dgm:pt modelId="{EA5C2631-7C2B-4C91-92A2-BE68C830402D}">
      <dgm:prSet/>
      <dgm:spPr/>
      <dgm:t>
        <a:bodyPr/>
        <a:lstStyle/>
        <a:p>
          <a:r>
            <a:rPr lang="en-US"/>
            <a:t>Posterior variance used for reverse step sampling</a:t>
          </a:r>
        </a:p>
      </dgm:t>
    </dgm:pt>
    <dgm:pt modelId="{044B56E4-6C8C-43F1-8B8B-8BD30D6C03D3}" type="parTrans" cxnId="{A621E39D-C858-4139-831B-3A64D13D3C7D}">
      <dgm:prSet/>
      <dgm:spPr/>
      <dgm:t>
        <a:bodyPr/>
        <a:lstStyle/>
        <a:p>
          <a:endParaRPr lang="en-US"/>
        </a:p>
      </dgm:t>
    </dgm:pt>
    <dgm:pt modelId="{B8AE71A9-8D29-4A22-98C6-709F5CF41A15}" type="sibTrans" cxnId="{A621E39D-C858-4139-831B-3A64D13D3C7D}">
      <dgm:prSet/>
      <dgm:spPr/>
      <dgm:t>
        <a:bodyPr/>
        <a:lstStyle/>
        <a:p>
          <a:endParaRPr lang="en-US"/>
        </a:p>
      </dgm:t>
    </dgm:pt>
    <dgm:pt modelId="{6A39A1E2-E710-4F2B-B933-0E3630A8E366}" type="pres">
      <dgm:prSet presAssocID="{AB89CB3F-CB15-4E89-BBFF-29429F05864F}" presName="linear" presStyleCnt="0">
        <dgm:presLayoutVars>
          <dgm:animLvl val="lvl"/>
          <dgm:resizeHandles val="exact"/>
        </dgm:presLayoutVars>
      </dgm:prSet>
      <dgm:spPr/>
    </dgm:pt>
    <dgm:pt modelId="{37F905DE-B361-4E0A-8FC9-90012F733B80}" type="pres">
      <dgm:prSet presAssocID="{1CB0837F-EE8D-439E-8270-67E11EB8AE5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1EA2254-983A-4BAB-B116-5992F8E468E0}" type="pres">
      <dgm:prSet presAssocID="{82D4B375-A7E4-492D-AB7C-EB99A405B555}" presName="spacer" presStyleCnt="0"/>
      <dgm:spPr/>
    </dgm:pt>
    <dgm:pt modelId="{8D7497C7-4870-40E0-947E-467999ABC5D8}" type="pres">
      <dgm:prSet presAssocID="{D8C163D5-299E-4AAA-AB1C-7E7F7E42AF6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ED90E92-80A1-4289-A11D-CFBC623C594E}" type="pres">
      <dgm:prSet presAssocID="{DA812F9F-7F93-4385-8FA2-7220F4AB1819}" presName="spacer" presStyleCnt="0"/>
      <dgm:spPr/>
    </dgm:pt>
    <dgm:pt modelId="{2BA871FF-366E-4D9E-A21A-65802C569536}" type="pres">
      <dgm:prSet presAssocID="{6DD625F9-7CEB-4E67-87C7-BD9F0A8E907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83546C7-53CF-4B8E-B8E9-CAAE80FDB4BB}" type="pres">
      <dgm:prSet presAssocID="{166E979F-DFF0-4380-82F5-B58F4F1702A3}" presName="spacer" presStyleCnt="0"/>
      <dgm:spPr/>
    </dgm:pt>
    <dgm:pt modelId="{0EB9D760-D8D8-432C-9C91-FB6189829AA2}" type="pres">
      <dgm:prSet presAssocID="{8C21647C-D2A8-48C0-9AB6-52B8B3CE8A8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DA261A1-0208-4D6E-8C12-79210F680C8A}" type="pres">
      <dgm:prSet presAssocID="{021BD1B8-F600-427B-86F8-D56837EE83B5}" presName="spacer" presStyleCnt="0"/>
      <dgm:spPr/>
    </dgm:pt>
    <dgm:pt modelId="{6AECB6F1-9196-4851-8BCD-E61D41862535}" type="pres">
      <dgm:prSet presAssocID="{EA5C2631-7C2B-4C91-92A2-BE68C830402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54A8B00-F370-4C66-9AED-0DA2D1DB8426}" type="presOf" srcId="{D8C163D5-299E-4AAA-AB1C-7E7F7E42AF63}" destId="{8D7497C7-4870-40E0-947E-467999ABC5D8}" srcOrd="0" destOrd="0" presId="urn:microsoft.com/office/officeart/2005/8/layout/vList2"/>
    <dgm:cxn modelId="{00463311-F645-421C-9DF0-D979511700DA}" srcId="{AB89CB3F-CB15-4E89-BBFF-29429F05864F}" destId="{8C21647C-D2A8-48C0-9AB6-52B8B3CE8A8F}" srcOrd="3" destOrd="0" parTransId="{A98760E5-DD25-4045-A448-8B95EEA231A0}" sibTransId="{021BD1B8-F600-427B-86F8-D56837EE83B5}"/>
    <dgm:cxn modelId="{7E13E021-9C43-4840-8002-5F84615D99C0}" type="presOf" srcId="{6DD625F9-7CEB-4E67-87C7-BD9F0A8E9073}" destId="{2BA871FF-366E-4D9E-A21A-65802C569536}" srcOrd="0" destOrd="0" presId="urn:microsoft.com/office/officeart/2005/8/layout/vList2"/>
    <dgm:cxn modelId="{D6C80529-2CE7-49FB-B57B-9684135AC1CD}" type="presOf" srcId="{AB89CB3F-CB15-4E89-BBFF-29429F05864F}" destId="{6A39A1E2-E710-4F2B-B933-0E3630A8E366}" srcOrd="0" destOrd="0" presId="urn:microsoft.com/office/officeart/2005/8/layout/vList2"/>
    <dgm:cxn modelId="{8313714A-56CF-47E3-9479-EBB4AD3B6BF2}" srcId="{AB89CB3F-CB15-4E89-BBFF-29429F05864F}" destId="{1CB0837F-EE8D-439E-8270-67E11EB8AE5B}" srcOrd="0" destOrd="0" parTransId="{F8FDAA60-F381-49F6-956E-9369386A345C}" sibTransId="{82D4B375-A7E4-492D-AB7C-EB99A405B555}"/>
    <dgm:cxn modelId="{05ED5E76-085A-4264-8B75-824E45F4765D}" srcId="{AB89CB3F-CB15-4E89-BBFF-29429F05864F}" destId="{6DD625F9-7CEB-4E67-87C7-BD9F0A8E9073}" srcOrd="2" destOrd="0" parTransId="{FC861D0E-4526-412E-B8C2-0FE7968A52C4}" sibTransId="{166E979F-DFF0-4380-82F5-B58F4F1702A3}"/>
    <dgm:cxn modelId="{49B5058A-61E2-4B49-A14A-13C7070AE8DC}" type="presOf" srcId="{1CB0837F-EE8D-439E-8270-67E11EB8AE5B}" destId="{37F905DE-B361-4E0A-8FC9-90012F733B80}" srcOrd="0" destOrd="0" presId="urn:microsoft.com/office/officeart/2005/8/layout/vList2"/>
    <dgm:cxn modelId="{A621E39D-C858-4139-831B-3A64D13D3C7D}" srcId="{AB89CB3F-CB15-4E89-BBFF-29429F05864F}" destId="{EA5C2631-7C2B-4C91-92A2-BE68C830402D}" srcOrd="4" destOrd="0" parTransId="{044B56E4-6C8C-43F1-8B8B-8BD30D6C03D3}" sibTransId="{B8AE71A9-8D29-4A22-98C6-709F5CF41A15}"/>
    <dgm:cxn modelId="{C8D83CED-D34E-4B5E-8421-E59901C5B141}" type="presOf" srcId="{8C21647C-D2A8-48C0-9AB6-52B8B3CE8A8F}" destId="{0EB9D760-D8D8-432C-9C91-FB6189829AA2}" srcOrd="0" destOrd="0" presId="urn:microsoft.com/office/officeart/2005/8/layout/vList2"/>
    <dgm:cxn modelId="{FC5F3DF9-F861-4178-8045-30A7BA451889}" type="presOf" srcId="{EA5C2631-7C2B-4C91-92A2-BE68C830402D}" destId="{6AECB6F1-9196-4851-8BCD-E61D41862535}" srcOrd="0" destOrd="0" presId="urn:microsoft.com/office/officeart/2005/8/layout/vList2"/>
    <dgm:cxn modelId="{01D5D5FF-757A-4F0B-B706-3DAAA503C95B}" srcId="{AB89CB3F-CB15-4E89-BBFF-29429F05864F}" destId="{D8C163D5-299E-4AAA-AB1C-7E7F7E42AF63}" srcOrd="1" destOrd="0" parTransId="{EE2ED90A-9802-4C8F-9D68-02784EFB7D88}" sibTransId="{DA812F9F-7F93-4385-8FA2-7220F4AB1819}"/>
    <dgm:cxn modelId="{253C4B3A-A859-4145-93BE-1E138B63CDDA}" type="presParOf" srcId="{6A39A1E2-E710-4F2B-B933-0E3630A8E366}" destId="{37F905DE-B361-4E0A-8FC9-90012F733B80}" srcOrd="0" destOrd="0" presId="urn:microsoft.com/office/officeart/2005/8/layout/vList2"/>
    <dgm:cxn modelId="{E8AF330E-0415-4A6A-807A-7AFE8312E66E}" type="presParOf" srcId="{6A39A1E2-E710-4F2B-B933-0E3630A8E366}" destId="{71EA2254-983A-4BAB-B116-5992F8E468E0}" srcOrd="1" destOrd="0" presId="urn:microsoft.com/office/officeart/2005/8/layout/vList2"/>
    <dgm:cxn modelId="{5C2D8B8F-564F-42C4-82D7-33DE23D80AF3}" type="presParOf" srcId="{6A39A1E2-E710-4F2B-B933-0E3630A8E366}" destId="{8D7497C7-4870-40E0-947E-467999ABC5D8}" srcOrd="2" destOrd="0" presId="urn:microsoft.com/office/officeart/2005/8/layout/vList2"/>
    <dgm:cxn modelId="{8347D630-42DC-44F8-AD84-A259BE5BCB47}" type="presParOf" srcId="{6A39A1E2-E710-4F2B-B933-0E3630A8E366}" destId="{3ED90E92-80A1-4289-A11D-CFBC623C594E}" srcOrd="3" destOrd="0" presId="urn:microsoft.com/office/officeart/2005/8/layout/vList2"/>
    <dgm:cxn modelId="{67B4F8E5-65D4-45AB-95A7-4BFE52BFA860}" type="presParOf" srcId="{6A39A1E2-E710-4F2B-B933-0E3630A8E366}" destId="{2BA871FF-366E-4D9E-A21A-65802C569536}" srcOrd="4" destOrd="0" presId="urn:microsoft.com/office/officeart/2005/8/layout/vList2"/>
    <dgm:cxn modelId="{BC01841E-2FB4-469D-89F3-3D0E555E7C39}" type="presParOf" srcId="{6A39A1E2-E710-4F2B-B933-0E3630A8E366}" destId="{183546C7-53CF-4B8E-B8E9-CAAE80FDB4BB}" srcOrd="5" destOrd="0" presId="urn:microsoft.com/office/officeart/2005/8/layout/vList2"/>
    <dgm:cxn modelId="{0FF15DCE-0D05-40C3-8A5A-B6A3E47BFF15}" type="presParOf" srcId="{6A39A1E2-E710-4F2B-B933-0E3630A8E366}" destId="{0EB9D760-D8D8-432C-9C91-FB6189829AA2}" srcOrd="6" destOrd="0" presId="urn:microsoft.com/office/officeart/2005/8/layout/vList2"/>
    <dgm:cxn modelId="{5ADAF091-D58F-40F2-A2E0-893912ECE82E}" type="presParOf" srcId="{6A39A1E2-E710-4F2B-B933-0E3630A8E366}" destId="{6DA261A1-0208-4D6E-8C12-79210F680C8A}" srcOrd="7" destOrd="0" presId="urn:microsoft.com/office/officeart/2005/8/layout/vList2"/>
    <dgm:cxn modelId="{DE45B3F4-0470-447A-958B-4BBE83D28679}" type="presParOf" srcId="{6A39A1E2-E710-4F2B-B933-0E3630A8E366}" destId="{6AECB6F1-9196-4851-8BCD-E61D4186253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99FE29-78F7-4BF2-AD33-D4AA847179EA}">
      <dsp:nvSpPr>
        <dsp:cNvPr id="0" name=""/>
        <dsp:cNvSpPr/>
      </dsp:nvSpPr>
      <dsp:spPr>
        <a:xfrm>
          <a:off x="442" y="1102051"/>
          <a:ext cx="1723926" cy="10343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Consists of 70,000 grayscale images of handwritten digits (0–9)</a:t>
          </a:r>
        </a:p>
      </dsp:txBody>
      <dsp:txXfrm>
        <a:off x="442" y="1102051"/>
        <a:ext cx="1723926" cy="1034355"/>
      </dsp:txXfrm>
    </dsp:sp>
    <dsp:sp modelId="{C4F09A47-C38E-416B-97DE-3549D3C99D8B}">
      <dsp:nvSpPr>
        <dsp:cNvPr id="0" name=""/>
        <dsp:cNvSpPr/>
      </dsp:nvSpPr>
      <dsp:spPr>
        <a:xfrm>
          <a:off x="1896760" y="1102051"/>
          <a:ext cx="1723926" cy="103435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Image size: 28x28 pixels</a:t>
          </a:r>
        </a:p>
      </dsp:txBody>
      <dsp:txXfrm>
        <a:off x="1896760" y="1102051"/>
        <a:ext cx="1723926" cy="1034355"/>
      </dsp:txXfrm>
    </dsp:sp>
    <dsp:sp modelId="{4CF6DABF-B996-4398-A24A-3D63F39AC743}">
      <dsp:nvSpPr>
        <dsp:cNvPr id="0" name=""/>
        <dsp:cNvSpPr/>
      </dsp:nvSpPr>
      <dsp:spPr>
        <a:xfrm>
          <a:off x="442" y="2308799"/>
          <a:ext cx="1723926" cy="1034355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60,000 training samples and 10,000 test samples</a:t>
          </a:r>
        </a:p>
      </dsp:txBody>
      <dsp:txXfrm>
        <a:off x="442" y="2308799"/>
        <a:ext cx="1723926" cy="1034355"/>
      </dsp:txXfrm>
    </dsp:sp>
    <dsp:sp modelId="{C1C3ACD3-3525-4194-B69F-B8A6F287918A}">
      <dsp:nvSpPr>
        <dsp:cNvPr id="0" name=""/>
        <dsp:cNvSpPr/>
      </dsp:nvSpPr>
      <dsp:spPr>
        <a:xfrm>
          <a:off x="1896760" y="2308799"/>
          <a:ext cx="1723926" cy="1034355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Normalized to [-1, 1] for stable training</a:t>
          </a:r>
        </a:p>
      </dsp:txBody>
      <dsp:txXfrm>
        <a:off x="1896760" y="2308799"/>
        <a:ext cx="1723926" cy="1034355"/>
      </dsp:txXfrm>
    </dsp:sp>
    <dsp:sp modelId="{97D30032-09D3-4854-AF86-018EF17079BF}">
      <dsp:nvSpPr>
        <dsp:cNvPr id="0" name=""/>
        <dsp:cNvSpPr/>
      </dsp:nvSpPr>
      <dsp:spPr>
        <a:xfrm>
          <a:off x="948601" y="3515547"/>
          <a:ext cx="1723926" cy="103435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Used for both unconditional and class-conditional generation</a:t>
          </a:r>
        </a:p>
      </dsp:txBody>
      <dsp:txXfrm>
        <a:off x="948601" y="3515547"/>
        <a:ext cx="1723926" cy="10343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F905DE-B361-4E0A-8FC9-90012F733B80}">
      <dsp:nvSpPr>
        <dsp:cNvPr id="0" name=""/>
        <dsp:cNvSpPr/>
      </dsp:nvSpPr>
      <dsp:spPr>
        <a:xfrm>
          <a:off x="0" y="104512"/>
          <a:ext cx="3621129" cy="104480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Implements forward process (adding noise) and parameters for reverse denoising</a:t>
          </a:r>
        </a:p>
      </dsp:txBody>
      <dsp:txXfrm>
        <a:off x="51003" y="155515"/>
        <a:ext cx="3519123" cy="942803"/>
      </dsp:txXfrm>
    </dsp:sp>
    <dsp:sp modelId="{8D7497C7-4870-40E0-947E-467999ABC5D8}">
      <dsp:nvSpPr>
        <dsp:cNvPr id="0" name=""/>
        <dsp:cNvSpPr/>
      </dsp:nvSpPr>
      <dsp:spPr>
        <a:xfrm>
          <a:off x="0" y="1204042"/>
          <a:ext cx="3621129" cy="1044809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Linear beta schedule from β_start=1e-4 to β_end=0.02</a:t>
          </a:r>
        </a:p>
      </dsp:txBody>
      <dsp:txXfrm>
        <a:off x="51003" y="1255045"/>
        <a:ext cx="3519123" cy="942803"/>
      </dsp:txXfrm>
    </dsp:sp>
    <dsp:sp modelId="{2BA871FF-366E-4D9E-A21A-65802C569536}">
      <dsp:nvSpPr>
        <dsp:cNvPr id="0" name=""/>
        <dsp:cNvSpPr/>
      </dsp:nvSpPr>
      <dsp:spPr>
        <a:xfrm>
          <a:off x="0" y="2303572"/>
          <a:ext cx="3621129" cy="1044809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Stores α_t, ᾱ_t (cumulative product), and related constants</a:t>
          </a:r>
        </a:p>
      </dsp:txBody>
      <dsp:txXfrm>
        <a:off x="51003" y="2354575"/>
        <a:ext cx="3519123" cy="942803"/>
      </dsp:txXfrm>
    </dsp:sp>
    <dsp:sp modelId="{0EB9D760-D8D8-432C-9C91-FB6189829AA2}">
      <dsp:nvSpPr>
        <dsp:cNvPr id="0" name=""/>
        <dsp:cNvSpPr/>
      </dsp:nvSpPr>
      <dsp:spPr>
        <a:xfrm>
          <a:off x="0" y="3403102"/>
          <a:ext cx="3621129" cy="1044809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q_sample(x₀, t): Adds noise to original image x₀ at timestep t</a:t>
          </a:r>
        </a:p>
      </dsp:txBody>
      <dsp:txXfrm>
        <a:off x="51003" y="3454105"/>
        <a:ext cx="3519123" cy="942803"/>
      </dsp:txXfrm>
    </dsp:sp>
    <dsp:sp modelId="{6AECB6F1-9196-4851-8BCD-E61D41862535}">
      <dsp:nvSpPr>
        <dsp:cNvPr id="0" name=""/>
        <dsp:cNvSpPr/>
      </dsp:nvSpPr>
      <dsp:spPr>
        <a:xfrm>
          <a:off x="0" y="4502632"/>
          <a:ext cx="3621129" cy="104480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Posterior variance used for reverse step sampling</a:t>
          </a:r>
        </a:p>
      </dsp:txBody>
      <dsp:txXfrm>
        <a:off x="51003" y="4553635"/>
        <a:ext cx="3519123" cy="942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32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281" y="841664"/>
            <a:ext cx="3655995" cy="5156800"/>
          </a:xfrm>
        </p:spPr>
        <p:txBody>
          <a:bodyPr anchor="ctr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</a:rPr>
              <a:t>Generating Images with Diffusion Model from Scratch using MNIST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1015" y="841664"/>
            <a:ext cx="3650704" cy="51568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Leveraging the MNIST Dataset</a:t>
            </a:r>
          </a:p>
          <a:p>
            <a:pPr algn="l"/>
            <a:endParaRPr lang="en-US" dirty="0">
              <a:solidFill>
                <a:schemeClr val="tx2"/>
              </a:solidFill>
            </a:endParaRPr>
          </a:p>
          <a:p>
            <a:pPr algn="l"/>
            <a:r>
              <a:rPr lang="en-US" sz="1600" dirty="0">
                <a:solidFill>
                  <a:schemeClr val="tx2"/>
                </a:solidFill>
              </a:rPr>
              <a:t>Name: Akshit Hasmukh Kumar Jain</a:t>
            </a:r>
          </a:p>
          <a:p>
            <a:pPr algn="l"/>
            <a:r>
              <a:rPr lang="en-US" sz="1600" dirty="0">
                <a:solidFill>
                  <a:schemeClr val="tx2"/>
                </a:solidFill>
              </a:rPr>
              <a:t>NUID: 002876444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3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Dataset: MNIST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47AD2AD7-9B8B-A21C-3C80-1BDC106B96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5881627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56E9CEC-9F08-BC33-1B0A-981B2A269D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3665" y="5578322"/>
            <a:ext cx="3873261" cy="8746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U-Net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21216"/>
            <a:ext cx="3363402" cy="4542739"/>
          </a:xfrm>
        </p:spPr>
        <p:txBody>
          <a:bodyPr anchor="ctr">
            <a:normAutofit/>
          </a:bodyPr>
          <a:lstStyle/>
          <a:p>
            <a:pPr>
              <a:defRPr sz="1400"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Encoder–Bottleneck–Decoder structure</a:t>
            </a:r>
          </a:p>
          <a:p>
            <a:pPr>
              <a:defRPr sz="1400"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Residual blocks with </a:t>
            </a:r>
            <a:r>
              <a:rPr lang="en-US" sz="1600" dirty="0" err="1">
                <a:solidFill>
                  <a:schemeClr val="tx2"/>
                </a:solidFill>
              </a:rPr>
              <a:t>GroupNorm</a:t>
            </a:r>
            <a:r>
              <a:rPr lang="en-US" sz="1600" dirty="0">
                <a:solidFill>
                  <a:schemeClr val="tx2"/>
                </a:solidFill>
              </a:rPr>
              <a:t> and </a:t>
            </a:r>
            <a:r>
              <a:rPr lang="en-US" sz="1600" dirty="0" err="1">
                <a:solidFill>
                  <a:schemeClr val="tx2"/>
                </a:solidFill>
              </a:rPr>
              <a:t>SiLU</a:t>
            </a:r>
            <a:r>
              <a:rPr lang="en-US" sz="1600" dirty="0">
                <a:solidFill>
                  <a:schemeClr val="tx2"/>
                </a:solidFill>
              </a:rPr>
              <a:t> activation</a:t>
            </a:r>
          </a:p>
          <a:p>
            <a:pPr>
              <a:defRPr sz="1400"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Downsampling</a:t>
            </a:r>
            <a:r>
              <a:rPr lang="en-US" sz="1600" dirty="0">
                <a:solidFill>
                  <a:schemeClr val="tx2"/>
                </a:solidFill>
              </a:rPr>
              <a:t> via </a:t>
            </a:r>
            <a:r>
              <a:rPr lang="en-US" sz="1600" dirty="0" err="1">
                <a:solidFill>
                  <a:schemeClr val="tx2"/>
                </a:solidFill>
              </a:rPr>
              <a:t>strided</a:t>
            </a:r>
            <a:r>
              <a:rPr lang="en-US" sz="1600" dirty="0">
                <a:solidFill>
                  <a:schemeClr val="tx2"/>
                </a:solidFill>
              </a:rPr>
              <a:t> convolutions, </a:t>
            </a:r>
            <a:r>
              <a:rPr lang="en-US" sz="1600" dirty="0" err="1">
                <a:solidFill>
                  <a:schemeClr val="tx2"/>
                </a:solidFill>
              </a:rPr>
              <a:t>upsampling</a:t>
            </a:r>
            <a:r>
              <a:rPr lang="en-US" sz="1600" dirty="0">
                <a:solidFill>
                  <a:schemeClr val="tx2"/>
                </a:solidFill>
              </a:rPr>
              <a:t> via nearest-neighbor + conv</a:t>
            </a:r>
          </a:p>
          <a:p>
            <a:pPr>
              <a:defRPr sz="1400"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Skip connections between encoder and decoder to preserve details</a:t>
            </a:r>
          </a:p>
          <a:p>
            <a:pPr>
              <a:defRPr sz="1400"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Conditioned on timestep embeddings and optional digit class embeddings</a:t>
            </a:r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72DD6705-B59C-743A-D969-DFF64BB8F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5267" y="4005670"/>
            <a:ext cx="3999353" cy="2666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Diffusion Scheduler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8A2D80-3BB7-4EE2-3DCF-4A288E2354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2321472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Sampling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3363402" cy="5340097"/>
          </a:xfrm>
        </p:spPr>
        <p:txBody>
          <a:bodyPr anchor="ctr">
            <a:normAutofit/>
          </a:bodyPr>
          <a:lstStyle/>
          <a:p>
            <a:pPr>
              <a:defRPr sz="1400">
                <a:latin typeface="Calibri"/>
              </a:defRPr>
            </a:pPr>
            <a:r>
              <a:rPr lang="en-US" sz="1600">
                <a:solidFill>
                  <a:schemeClr val="tx2"/>
                </a:solidFill>
              </a:rPr>
              <a:t>DDPM Sampler: Iterative denoising from Gaussian noise → image</a:t>
            </a:r>
          </a:p>
          <a:p>
            <a:pPr>
              <a:defRPr sz="1400">
                <a:latin typeface="Calibri"/>
              </a:defRPr>
            </a:pPr>
            <a:r>
              <a:rPr lang="en-US" sz="1600">
                <a:solidFill>
                  <a:schemeClr val="tx2"/>
                </a:solidFill>
              </a:rPr>
              <a:t>DDIM Sampler: Deterministic variant for faster generation</a:t>
            </a:r>
          </a:p>
          <a:p>
            <a:pPr>
              <a:defRPr sz="1400">
                <a:latin typeface="Calibri"/>
              </a:defRPr>
            </a:pPr>
            <a:r>
              <a:rPr lang="en-US" sz="1600">
                <a:solidFill>
                  <a:schemeClr val="tx2"/>
                </a:solidFill>
              </a:rPr>
              <a:t>Both support class-conditional generation by specifying digit label</a:t>
            </a:r>
          </a:p>
          <a:p>
            <a:pPr>
              <a:defRPr sz="1400">
                <a:latin typeface="Calibri"/>
              </a:defRPr>
            </a:pPr>
            <a:r>
              <a:rPr lang="en-US" sz="1600">
                <a:solidFill>
                  <a:schemeClr val="tx2"/>
                </a:solidFill>
              </a:rPr>
              <a:t>Reverse process runs from T timesteps down to 0</a:t>
            </a:r>
          </a:p>
          <a:p>
            <a:pPr>
              <a:defRPr sz="1400">
                <a:latin typeface="Calibri"/>
              </a:defRPr>
            </a:pPr>
            <a:r>
              <a:rPr lang="en-US" sz="1600">
                <a:solidFill>
                  <a:schemeClr val="tx2"/>
                </a:solidFill>
              </a:rPr>
              <a:t>Generates realistic MNIST digits from pure noise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</a:rPr>
              <a:t>Training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3871" y="222683"/>
            <a:ext cx="3363402" cy="5340097"/>
          </a:xfrm>
        </p:spPr>
        <p:txBody>
          <a:bodyPr anchor="ctr">
            <a:normAutofit/>
          </a:bodyPr>
          <a:lstStyle/>
          <a:p>
            <a:pPr>
              <a:defRPr sz="1400"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Trained for 25 epochs on MNIST dataset</a:t>
            </a:r>
          </a:p>
          <a:p>
            <a:pPr>
              <a:defRPr sz="1400"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Generated digits match conditioning labels accurately</a:t>
            </a:r>
          </a:p>
          <a:p>
            <a:pPr>
              <a:defRPr sz="1400"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DDIM produces similar quality in fewer steps</a:t>
            </a:r>
          </a:p>
          <a:p>
            <a:pPr>
              <a:defRPr sz="1400"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Noise-to-image transformation visualized successfully</a:t>
            </a:r>
          </a:p>
          <a:p>
            <a:pPr>
              <a:defRPr sz="1400"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Supports both unconditional and digit-specific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209F7D-35F4-2E5D-2036-CF3676875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D7666BFE-25A5-11D1-FE7E-49ABF44E7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C168FE7F-8F07-865E-1641-0E5CD4EEB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DB27CE-D108-15B4-E628-F9C73CFDF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77B6DFC5-E895-8CC6-EAA3-12F9926A5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C9B7A80-34DA-1358-8740-7F04E1D9FF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EC35E12-E9EE-3072-A152-15083AF91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25BCB5B-029B-B3D8-2456-06F57424B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79F66A-90EB-75AD-6532-01C595529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182F897-A33C-1F7E-6336-D58E1EFAE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640AE12-4C5D-FE7F-0BED-A9CFC9193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F9F230E-86DE-AEA9-9A1F-FBCAFFDE1A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457E0B4-6747-7D2A-2952-24B8FA3C0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C79669-FE70-231C-BF24-98C9FE74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DE1485-84FE-EC2A-2C69-DA45375FC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</a:rPr>
              <a:t>Image Generation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568BF6-E5EE-0B7F-3D0E-777306DBB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580" y="3881360"/>
            <a:ext cx="2023846" cy="21490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D500FE-A2FC-1400-5F6E-56F3499A8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575" y="3881359"/>
            <a:ext cx="1969497" cy="213431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370C73A-9A5D-DAE5-765C-5ABE849F8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372" y="345153"/>
            <a:ext cx="3077355" cy="308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242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</a:rPr>
              <a:t>Conclusion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3363402" cy="5340097"/>
          </a:xfrm>
        </p:spPr>
        <p:txBody>
          <a:bodyPr anchor="ctr">
            <a:normAutofit/>
          </a:bodyPr>
          <a:lstStyle/>
          <a:p>
            <a:pPr>
              <a:defRPr sz="1400"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We successfully implemented a diffusion model from scratch, training it on the MNIST dataset to generate realistic handwritten digits.</a:t>
            </a:r>
          </a:p>
          <a:p>
            <a:pPr>
              <a:defRPr sz="1400"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By combining a U-Net architecture with a custom DDPM scheduler and both DDPM and DDIM samplers, we achieved high-quality digit generation with support for class-conditional outputs.</a:t>
            </a:r>
          </a:p>
          <a:p>
            <a:pPr>
              <a:defRPr sz="1400"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This approach demonstrates how diffusion models can be adapted to simple datasets, providing a solid foundation for scaling to more complex image generation tasks.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FC8AD3-EF7F-0599-5C3B-358F48727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396390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14244" y="-34538"/>
            <a:ext cx="4991553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66395" y="-23905"/>
            <a:ext cx="5028938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0164" y="-23905"/>
            <a:ext cx="5028938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DD2D83-7810-59E2-6DAC-228DAC7A9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806" y="895483"/>
            <a:ext cx="4339674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4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1037" y="188494"/>
            <a:ext cx="786278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1037" y="188494"/>
            <a:ext cx="786278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4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87321" y="3578317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393" y="4910353"/>
            <a:ext cx="351068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393" y="4910353"/>
            <a:ext cx="351068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66850" y="4200769"/>
            <a:ext cx="2077150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66850" y="4200769"/>
            <a:ext cx="2077150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016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339</Words>
  <Application>Microsoft Office PowerPoint</Application>
  <PresentationFormat>On-screen Show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Generating Images with Diffusion Model from Scratch using MNIST</vt:lpstr>
      <vt:lpstr>Dataset: MNIST</vt:lpstr>
      <vt:lpstr>U-Net Architecture</vt:lpstr>
      <vt:lpstr>Diffusion Scheduler</vt:lpstr>
      <vt:lpstr>Sampling Methods</vt:lpstr>
      <vt:lpstr>Training Info</vt:lpstr>
      <vt:lpstr>Image Generation Results</vt:lpstr>
      <vt:lpstr>Conclusion &amp; Key Takeaways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Akshit Hasmukh Kumar Jain</cp:lastModifiedBy>
  <cp:revision>7</cp:revision>
  <dcterms:created xsi:type="dcterms:W3CDTF">2013-01-27T09:14:16Z</dcterms:created>
  <dcterms:modified xsi:type="dcterms:W3CDTF">2025-08-13T21:51:23Z</dcterms:modified>
  <cp:category/>
</cp:coreProperties>
</file>